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e342184aac4f9f" /><Relationship Type="http://schemas.openxmlformats.org/officeDocument/2006/relationships/extended-properties" Target="/docProps/app.xml" Id="Rae73d29ff0214ce6" /><Relationship Type="http://schemas.openxmlformats.org/officeDocument/2006/relationships/officeDocument" Target="/ppt/presentation.xml" Id="R3622a4f9337445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4a3f607eca4573"/>
  </p:sldMasterIdLst>
  <p:notesMasterIdLst>
    <p:notesMasterId xmlns:r="http://schemas.openxmlformats.org/officeDocument/2006/relationships" r:id="R5c39f545feb24ddb"/>
  </p:notesMasterIdLst>
  <p:sldIdLst>
    <p:sldId xmlns:r="http://schemas.openxmlformats.org/officeDocument/2006/relationships" id="256" r:id="R246ce7c8ca3144a7"/>
    <p:sldId xmlns:r="http://schemas.openxmlformats.org/officeDocument/2006/relationships" id="257" r:id="Ra057dc91e5184c83"/>
    <p:sldId xmlns:r="http://schemas.openxmlformats.org/officeDocument/2006/relationships" id="258" r:id="R8d327713d83344c1"/>
    <p:sldId xmlns:r="http://schemas.openxmlformats.org/officeDocument/2006/relationships" id="259" r:id="Rca1fb68d872a440f"/>
    <p:sldId xmlns:r="http://schemas.openxmlformats.org/officeDocument/2006/relationships" id="260" r:id="R45943476d37b4ce2"/>
    <p:sldId xmlns:r="http://schemas.openxmlformats.org/officeDocument/2006/relationships" id="261" r:id="Rdbe4314bc4de4c14"/>
    <p:sldId xmlns:r="http://schemas.openxmlformats.org/officeDocument/2006/relationships" id="262" r:id="Rf3182a460dac4b25"/>
    <p:sldId xmlns:r="http://schemas.openxmlformats.org/officeDocument/2006/relationships" id="263" r:id="R2558477e15ef4a5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e70fa97b9c4e82" /><Relationship Type="http://schemas.openxmlformats.org/officeDocument/2006/relationships/slideMaster" Target="/ppt/slideMasters/slideMaster1.xml" Id="R174a3f607eca4573" /><Relationship Type="http://schemas.openxmlformats.org/officeDocument/2006/relationships/notesMaster" Target="/ppt/notesMasters/notesMaster1.xml" Id="R5c39f545feb24ddb" /><Relationship Type="http://schemas.openxmlformats.org/officeDocument/2006/relationships/presProps" Target="/ppt/presProps.xml" Id="R88bac7e9c2f04b46" /><Relationship Type="http://schemas.openxmlformats.org/officeDocument/2006/relationships/tableStyles" Target="/ppt/tableStyles.xml" Id="R50afee58623a4286" /><Relationship Type="http://schemas.openxmlformats.org/officeDocument/2006/relationships/slide" Target="/ppt/slides/slide1.xml" Id="R246ce7c8ca3144a7" /><Relationship Type="http://schemas.openxmlformats.org/officeDocument/2006/relationships/slide" Target="/ppt/slides/slide2.xml" Id="Ra057dc91e5184c83" /><Relationship Type="http://schemas.openxmlformats.org/officeDocument/2006/relationships/slide" Target="/ppt/slides/slide3.xml" Id="R8d327713d83344c1" /><Relationship Type="http://schemas.openxmlformats.org/officeDocument/2006/relationships/slide" Target="/ppt/slides/slide4.xml" Id="Rca1fb68d872a440f" /><Relationship Type="http://schemas.openxmlformats.org/officeDocument/2006/relationships/slide" Target="/ppt/slides/slide5.xml" Id="R45943476d37b4ce2" /><Relationship Type="http://schemas.openxmlformats.org/officeDocument/2006/relationships/slide" Target="/ppt/slides/slide6.xml" Id="Rdbe4314bc4de4c14" /><Relationship Type="http://schemas.openxmlformats.org/officeDocument/2006/relationships/slide" Target="/ppt/slides/slide7.xml" Id="Rf3182a460dac4b25" /><Relationship Type="http://schemas.openxmlformats.org/officeDocument/2006/relationships/slide" Target="/ppt/slides/slide8.xml" Id="R2558477e15ef4a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32de1b7a9a41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cbf25b248d45eb" /><Relationship Type="http://schemas.openxmlformats.org/officeDocument/2006/relationships/notesMaster" Target="/ppt/notesMasters/notesMaster1.xml" Id="R58897fbd25ea4d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15cbc288d64c87" /><Relationship Type="http://schemas.openxmlformats.org/officeDocument/2006/relationships/notesMaster" Target="/ppt/notesMasters/notesMaster1.xml" Id="R00ae62f991594ad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766a40ff93f4b8d" /><Relationship Type="http://schemas.openxmlformats.org/officeDocument/2006/relationships/notesMaster" Target="/ppt/notesMasters/notesMaster1.xml" Id="R6245b60c78f247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06e8a4f56c409c" /><Relationship Type="http://schemas.openxmlformats.org/officeDocument/2006/relationships/notesMaster" Target="/ppt/notesMasters/notesMaster1.xml" Id="R21ec1e52c732452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ef753d5bf74e63" /><Relationship Type="http://schemas.openxmlformats.org/officeDocument/2006/relationships/notesMaster" Target="/ppt/notesMasters/notesMaster1.xml" Id="R4d17599c78784d0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1668e1710ae4eb8" /><Relationship Type="http://schemas.openxmlformats.org/officeDocument/2006/relationships/notesMaster" Target="/ppt/notesMasters/notesMaster1.xml" Id="Re7b6a312755d4d5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f108a1287394181" /><Relationship Type="http://schemas.openxmlformats.org/officeDocument/2006/relationships/notesMaster" Target="/ppt/notesMasters/notesMaster1.xml" Id="Rcad31c13ae9b459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776078f84e94ef6" /><Relationship Type="http://schemas.openxmlformats.org/officeDocument/2006/relationships/notesMaster" Target="/ppt/notesMasters/notesMaster1.xml" Id="Re0ede1ae0e404c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18a20e40c24d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0c83f6656c4cb0" /><Relationship Type="http://schemas.openxmlformats.org/officeDocument/2006/relationships/slideLayout" Target="/ppt/slideLayouts/slideLayout1.xml" Id="R388e1ea9dca94e3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8e1ea9dca94e3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4c3ba709424f69" /><Relationship Type="http://schemas.openxmlformats.org/officeDocument/2006/relationships/notesSlide" Target="/ppt/notesSlides/notesSlide1.xml" Id="R9ca72b2f471f4d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eda4e2e6d84c92" /><Relationship Type="http://schemas.openxmlformats.org/officeDocument/2006/relationships/notesSlide" Target="/ppt/notesSlides/notesSlide2.xml" Id="R8a50cd6f9c8b47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8cf257f78c4221" /><Relationship Type="http://schemas.openxmlformats.org/officeDocument/2006/relationships/notesSlide" Target="/ppt/notesSlides/notesSlide3.xml" Id="Rab95602a3140406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d62325dbeb48d2" /><Relationship Type="http://schemas.openxmlformats.org/officeDocument/2006/relationships/notesSlide" Target="/ppt/notesSlides/notesSlide4.xml" Id="Rd9433927baed4b5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6bfd3ef35a4c25" /><Relationship Type="http://schemas.openxmlformats.org/officeDocument/2006/relationships/notesSlide" Target="/ppt/notesSlides/notesSlide5.xml" Id="R12e90e3c36c84bf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52651f60e44192" /><Relationship Type="http://schemas.openxmlformats.org/officeDocument/2006/relationships/notesSlide" Target="/ppt/notesSlides/notesSlide6.xml" Id="Rf25ad36e4958441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16d13ad7454358" /><Relationship Type="http://schemas.openxmlformats.org/officeDocument/2006/relationships/chart" Target="/ppt/slides/charts/chart1.xml" Id="Rd93d805422b444a5" /><Relationship Type="http://schemas.openxmlformats.org/officeDocument/2006/relationships/notesSlide" Target="/ppt/notesSlides/notesSlide7.xml" Id="R79cb58a9f783484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208ad9778045a8" /><Relationship Type="http://schemas.openxmlformats.org/officeDocument/2006/relationships/notesSlide" Target="/ppt/notesSlides/notesSlide8.xml" Id="R4c248ee4cc18498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Documents processed</c:v>
          </c:tx>
          <c:spPr>
            <a:solidFill xmlns:a="http://schemas.openxmlformats.org/drawingml/2006/main">
              <a:srgbClr val="F2B84B"/>
            </a:solidFill>
          </c:spPr>
          <c:cat>
            <c:strRef>
              <c:f>'Chart Data'!$A$2:$A$5</c:f>
              <c:strCache>
                <c:ptCount val="4"/>
                <c:pt idx="0">
                  <c:v>Invoice</c:v>
                </c:pt>
                <c:pt idx="1">
                  <c:v>Balance sheet</c:v>
                </c:pt>
                <c:pt idx="2">
                  <c:v>Profit &amp; loss</c:v>
                </c:pt>
                <c:pt idx="3">
                  <c:v>Cash flow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20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276D9A-E8A9-4CCF-8AE4-37C66BBA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104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7E6E53-1EE3-4F6D-9DF8-E5513272F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810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Document Intelligence</a:t>
            </a:r>
          </a:p>
          <a:p xmlns:a="http://schemas.openxmlformats.org/drawingml/2006/main">
            <a:pPr>
              <a:defRPr sz="46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Platform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3A569B-5A59-4047-897E-908CC5C62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762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9BA8B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9BA8B8"/>
                </a:solidFill>
                <a:latin typeface="Arial"/>
                <a:ea typeface="Arial"/>
                <a:cs typeface="Arial"/>
              </a:rPr>
              <a:t>Financial document extraction with page evidence and deterministic validation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1FF808-77F6-41E7-9FFB-6074056CA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AI Engineer Internship Case Study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9D8CC7-4E11-437A-80FE-70806DC3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483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BA8B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BA8B8"/>
                </a:solidFill>
                <a:latin typeface="Arial"/>
                <a:ea typeface="Arial"/>
                <a:cs typeface="Arial"/>
              </a:rPr>
              <a:t>Pranay Agrawal · September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EB8D08-D589-495B-B998-B87EE302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485900"/>
            <a:ext cx="1847850" cy="278130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0D1A29"/>
          </a:solidFill>
          <a:ln xmlns:a="http://schemas.openxmlformats.org/drawingml/2006/main" w="9525">
            <a:solidFill>
              <a:srgbClr val="29415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C4E89B-C8A2-47FA-A86E-F03097424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905000"/>
            <a:ext cx="1028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PDF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A57BC6-670E-40B8-9BE1-EFE614F9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571750"/>
            <a:ext cx="112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C326F2-8FEE-4706-8AED-E1CFEDD6A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876550"/>
            <a:ext cx="1028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56D6A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6D6A0"/>
                </a:solidFill>
                <a:latin typeface="Arial"/>
                <a:ea typeface="Arial"/>
                <a:cs typeface="Arial"/>
              </a:rPr>
              <a:t>JPG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A45426-12D0-4CBE-9CB1-BB0B273B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543300"/>
            <a:ext cx="112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CB9953-1CD5-482E-83F5-F3FAF4A7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829050"/>
            <a:ext cx="1028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PNG</a:t>
            </a:r>
          </a:p>
        </p:txBody>
      </p:sp>
    </p:spTree>
    <p:extLst>
      <p:ext uri="{BB962C8B-B14F-4D97-AF65-F5344CB8AC3E}">
        <p14:creationId xmlns:p14="http://schemas.microsoft.com/office/powerpoint/2010/main" val="15843464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292397-0187-4B85-B496-68C9488B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Problem and delivery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6947ED-148A-4854-80BA-262EE9437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D3BEA1-65C7-485D-9B62-B65F5A39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49C5A6-778D-42AA-A7D8-C8A9F209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942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065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9BA8B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9BA8B8"/>
                </a:solidFill>
                <a:latin typeface="Arial"/>
                <a:ea typeface="Arial"/>
                <a:cs typeface="Arial"/>
              </a:rPr>
              <a:t>One workflow must handle four financial document types without inventing missing values.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A46A04-AB5D-4FD6-BCB9-BF152674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Invoice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F875E8-143F-4A62-A5C5-FD0B42E5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333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439D98-777E-469D-96CC-3AA07EA65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343150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Balance sheet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9179D5-8701-4925-B8B3-23E29C09C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857500"/>
            <a:ext cx="2333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49ADE0-B6A8-4F66-8872-2B01360D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343150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Profit &amp; loss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094E37-9E4D-43E5-AC82-C2B9770DD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857500"/>
            <a:ext cx="2333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1D60CD-7179-4CC0-A7EF-B1B66A5A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343150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Cash 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0850A7-C500-47B5-96D3-B9FFEBC8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857500"/>
            <a:ext cx="2333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941419-0C01-4207-86DF-94D526B72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552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F2A27C-D46F-417A-9C6A-E834A4A0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290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Validate first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B5A45A-1476-4291-BCAE-8BD06C08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429000"/>
            <a:ext cx="733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712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9BA8B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9BA8B8"/>
                </a:solidFill>
                <a:latin typeface="Arial"/>
                <a:ea typeface="Arial"/>
                <a:cs typeface="Arial"/>
              </a:rPr>
              <a:t>PDF, JPG or PNG. Maximum three pages. Corrupt and mismatched files fail safely.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BA2960-FF91-4A6B-B171-1323A174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552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223BBB-7BCB-4E6B-B720-036EAED4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672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Return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6A70B5-404D-4AE1-98A1-D265C060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267200"/>
            <a:ext cx="733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759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9BA8B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9BA8B8"/>
                </a:solidFill>
                <a:latin typeface="Arial"/>
                <a:ea typeface="Arial"/>
                <a:cs typeface="Arial"/>
              </a:rPr>
              <a:t>Important values retain source text, page number and normalized bounding boxes.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81A5BE-2F4F-43B2-8871-461A0354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552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A4F672-CF33-4B06-9C2D-43099F33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1054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Reconcile in code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55FB3C-1233-4179-9707-BC89FAF64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105400"/>
            <a:ext cx="733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9BA8B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9BA8B8"/>
                </a:solidFill>
                <a:latin typeface="Arial"/>
                <a:ea typeface="Arial"/>
                <a:cs typeface="Arial"/>
              </a:rPr>
              <a:t>Financial formulas run after extraction and report variance, tolerance and status.</a:t>
            </a:r>
          </a:p>
        </p:txBody>
      </p:sp>
    </p:spTree>
    <p:extLst>
      <p:ext uri="{BB962C8B-B14F-4D97-AF65-F5344CB8AC3E}">
        <p14:creationId xmlns:p14="http://schemas.microsoft.com/office/powerpoint/2010/main" val="8035297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354C7D-E588-4B62-97E6-BF777EE5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Processing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35A485-FA75-4CF9-9C48-912F650F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36FFA3-25CF-4301-9CEB-D72881DDA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5FDAEA-B9EF-4AEB-BE45-10414E60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BA8B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9BA8B8"/>
                </a:solidFill>
                <a:latin typeface="Arial"/>
                <a:ea typeface="Arial"/>
                <a:cs typeface="Arial"/>
              </a:rPr>
              <a:t>The extraction provider can change. File checks, evidence and arithmetic stay deterministic.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F7EC59-0F98-4D06-84B0-F27A0C55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86050"/>
            <a:ext cx="1562100" cy="16192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0D1A29"/>
          </a:solidFill>
          <a:ln xmlns:a="http://schemas.openxmlformats.org/drawingml/2006/main" w="9525">
            <a:solidFill>
              <a:srgbClr val="29415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CC1D04-13E0-469E-B478-FB91151A5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125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Upload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FC3445-B858-49F8-BD34-6FEF0108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76625"/>
            <a:ext cx="1295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BA8B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BA8B8"/>
                </a:solidFill>
                <a:latin typeface="Arial"/>
                <a:ea typeface="Arial"/>
                <a:cs typeface="Arial"/>
              </a:rPr>
              <a:t>signature</a:t>
            </a:r>
          </a:p>
          <a:p xmlns:a="http://schemas.openxmlformats.org/drawingml/2006/main">
            <a:pPr>
              <a:defRPr sz="1500" b="0">
                <a:solidFill>
                  <a:srgbClr val="9BA8B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BA8B8"/>
                </a:solidFill>
                <a:latin typeface="Arial"/>
                <a:ea typeface="Arial"/>
                <a:cs typeface="Arial"/>
              </a:rPr>
              <a:t>size · pages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1AE6B1-B413-4FA0-96FE-84949BED2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276600"/>
            <a:ext cx="28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912"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6D7A8A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6D7A8A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A26E21-4FE1-4CFC-AD07-A68646D9D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686050"/>
            <a:ext cx="1562100" cy="16192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0D1A29"/>
          </a:solidFill>
          <a:ln xmlns:a="http://schemas.openxmlformats.org/drawingml/2006/main" w="9525">
            <a:solidFill>
              <a:srgbClr val="29415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429F4A-D33B-42EF-ABD1-CB393DA1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952750"/>
            <a:ext cx="125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1DAF38-39CA-451F-86C3-3AC4BA94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476625"/>
            <a:ext cx="1295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172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BA8B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BA8B8"/>
                </a:solidFill>
                <a:latin typeface="Arial"/>
                <a:ea typeface="Arial"/>
                <a:cs typeface="Arial"/>
              </a:rPr>
              <a:t>native PDF</a:t>
            </a:r>
          </a:p>
          <a:p xmlns:a="http://schemas.openxmlformats.org/drawingml/2006/main">
            <a:pPr>
              <a:defRPr sz="1500" b="0">
                <a:solidFill>
                  <a:srgbClr val="9BA8B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BA8B8"/>
                </a:solidFill>
                <a:latin typeface="Arial"/>
                <a:ea typeface="Arial"/>
                <a:cs typeface="Arial"/>
              </a:rPr>
              <a:t>OCR fallback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BF13B6-6845-4E50-AC43-75EA0BC57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276600"/>
            <a:ext cx="28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912"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6D7A8A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6D7A8A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55FA15-1496-4BF5-B32D-529AEC5D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86050"/>
            <a:ext cx="1562100" cy="16192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0D1A29"/>
          </a:solidFill>
          <a:ln xmlns:a="http://schemas.openxmlformats.org/drawingml/2006/main" w="9525">
            <a:solidFill>
              <a:srgbClr val="29415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04B71D-ED4F-4E89-B5DA-B5DE3FE1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52750"/>
            <a:ext cx="125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Extract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95200C-8E7A-4C9F-B53A-1580B0938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76625"/>
            <a:ext cx="1295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BA8B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BA8B8"/>
                </a:solidFill>
                <a:latin typeface="Arial"/>
                <a:ea typeface="Arial"/>
                <a:cs typeface="Arial"/>
              </a:rPr>
              <a:t>fields · rows</a:t>
            </a:r>
          </a:p>
          <a:p xmlns:a="http://schemas.openxmlformats.org/drawingml/2006/main">
            <a:pPr>
              <a:defRPr sz="1500" b="0">
                <a:solidFill>
                  <a:srgbClr val="9BA8B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BA8B8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F9F9C7-8DE5-4194-903E-CD8475C33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76600"/>
            <a:ext cx="28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912"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6D7A8A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6D7A8A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74A854-3C00-4B3D-9EF5-F103DDEFA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686050"/>
            <a:ext cx="1562100" cy="16192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14263C"/>
          </a:solidFill>
          <a:ln xmlns:a="http://schemas.openxmlformats.org/drawingml/2006/main" w="9525">
            <a:solidFill>
              <a:srgbClr val="F2B84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8342CB-3C82-444D-A884-F047E925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952750"/>
            <a:ext cx="125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846D48-9EB5-41EC-B821-440D7AF1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76625"/>
            <a:ext cx="1295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BA8B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BA8B8"/>
                </a:solidFill>
                <a:latin typeface="Arial"/>
                <a:ea typeface="Arial"/>
                <a:cs typeface="Arial"/>
              </a:rPr>
              <a:t>formulas</a:t>
            </a:r>
          </a:p>
          <a:p xmlns:a="http://schemas.openxmlformats.org/drawingml/2006/main">
            <a:pPr>
              <a:defRPr sz="1500" b="0">
                <a:solidFill>
                  <a:srgbClr val="9BA8B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BA8B8"/>
                </a:solidFill>
                <a:latin typeface="Arial"/>
                <a:ea typeface="Arial"/>
                <a:cs typeface="Arial"/>
              </a:rPr>
              <a:t>variance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B3BA92-386E-40E1-A8D1-51FB1378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276600"/>
            <a:ext cx="28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912"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6D7A8A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6D7A8A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E92594-6D20-42ED-B970-A87BAF50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86050"/>
            <a:ext cx="1562100" cy="16192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0D1A29"/>
          </a:solidFill>
          <a:ln xmlns:a="http://schemas.openxmlformats.org/drawingml/2006/main" w="9525">
            <a:solidFill>
              <a:srgbClr val="29415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DAC6AD-B68B-497B-99F3-5CEA944E5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52750"/>
            <a:ext cx="125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Persist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9CCF0B-822D-4F01-B2EF-2208B05D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76625"/>
            <a:ext cx="1295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682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BA8B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BA8B8"/>
                </a:solidFill>
                <a:latin typeface="Arial"/>
                <a:ea typeface="Arial"/>
                <a:cs typeface="Arial"/>
              </a:rPr>
              <a:t>SQLAlchemy</a:t>
            </a:r>
          </a:p>
          <a:p xmlns:a="http://schemas.openxmlformats.org/drawingml/2006/main">
            <a:pPr>
              <a:defRPr sz="1500" b="0">
                <a:solidFill>
                  <a:srgbClr val="9BA8B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BA8B8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43DB1F-4D78-4602-98F3-649399AA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276600"/>
            <a:ext cx="28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912"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6D7A8A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6D7A8A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E2EEBC-5110-4416-9020-7EAF932D3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686050"/>
            <a:ext cx="1562100" cy="16192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0D1A29"/>
          </a:solidFill>
          <a:ln xmlns:a="http://schemas.openxmlformats.org/drawingml/2006/main" w="9525">
            <a:solidFill>
              <a:srgbClr val="29415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D145F9-C12B-459B-939D-7F6F7B0B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952750"/>
            <a:ext cx="125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Serve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57A19D-AA60-43C1-8368-4897E91A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3476625"/>
            <a:ext cx="1295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BA8B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BA8B8"/>
                </a:solidFill>
                <a:latin typeface="Arial"/>
                <a:ea typeface="Arial"/>
                <a:cs typeface="Arial"/>
              </a:rPr>
              <a:t>REST API</a:t>
            </a:r>
          </a:p>
          <a:p xmlns:a="http://schemas.openxmlformats.org/drawingml/2006/main">
            <a:pPr>
              <a:defRPr sz="1500" b="0">
                <a:solidFill>
                  <a:srgbClr val="9BA8B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BA8B8"/>
                </a:solidFill>
                <a:latin typeface="Arial"/>
                <a:ea typeface="Arial"/>
                <a:cs typeface="Arial"/>
              </a:rPr>
              <a:t>dashboard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129FC1-725F-401B-BA58-B04779475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E23909-6B52-4423-BDAA-19F20C9CB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Local baseline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C652FE-A4C4-4B70-84F6-29D57EFA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530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RapidOCR + rules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EEB8BF-FF36-432C-B543-B16DEF03F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530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Optional enrichment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A4B0E8-87B6-4F9B-9306-DDF0B8B3A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3530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OpenAI-compatible adapter</a:t>
            </a:r>
          </a:p>
        </p:txBody>
      </p:sp>
    </p:spTree>
    <p:extLst>
      <p:ext uri="{BB962C8B-B14F-4D97-AF65-F5344CB8AC3E}">
        <p14:creationId xmlns:p14="http://schemas.microsoft.com/office/powerpoint/2010/main" val="18892482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3788D8-2D75-4626-A796-852A6491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Evidence-backed extraction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6D29B7-494A-47E9-9221-8F2561242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53C18E-D186-4FC8-98E6-2E27C85C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E8A7AA-BF6E-49CD-8583-044E04DE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INPUT STRATEGY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2C3EF1-837C-4BDB-A1F3-25658A19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6425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Native text first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95A2C0-9FE8-46F4-820A-7F134745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457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BA8B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9BA8B8"/>
                </a:solidFill>
                <a:latin typeface="Arial"/>
                <a:ea typeface="Arial"/>
                <a:cs typeface="Arial"/>
              </a:rPr>
              <a:t>PDF text layers avoid unnecessary OCR. Scanned pages and images use local OCR with normalized coordinates.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1B8903-1E70-4EF8-9882-2CE8E7D2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44780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7EA7AD-EBD1-4B11-B816-E4908E4C1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287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OUTPUT CONTRACT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A6B031-7D37-45A7-B034-3CE4D3A6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526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CB705A-D2B6-4B42-8AE2-2F78C9078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335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Canonical fields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3221DB-2DEE-42AE-8AF6-FBE9C30E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7647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BA8B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BA8B8"/>
                </a:solidFill>
                <a:latin typeface="Arial"/>
                <a:ea typeface="Arial"/>
                <a:cs typeface="Arial"/>
              </a:rPr>
              <a:t>Invoices and statement totals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86688F-8F76-4CBA-94A0-A97CC7DB3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098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833128-1F7C-4661-897F-E74571CB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908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Structured rows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DC4157-0444-4E00-A205-AB0367A4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3372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BA8B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BA8B8"/>
                </a:solidFill>
                <a:latin typeface="Arial"/>
                <a:ea typeface="Arial"/>
                <a:cs typeface="Arial"/>
              </a:rPr>
              <a:t>Line items and comparative periods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D667EB-F9B7-4B5E-816C-91F76260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671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E94E7B-6B02-43D8-A0F9-4B97C447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480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706403-253D-42FA-970F-1973B0912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99097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BA8B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BA8B8"/>
                </a:solidFill>
                <a:latin typeface="Arial"/>
                <a:ea typeface="Arial"/>
                <a:cs typeface="Arial"/>
              </a:rPr>
              <a:t>Text, page number and bounding box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E86F93-7B6E-4991-B2AF-DAF99BC1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2437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F90B40-3619-4BEB-88BB-B4D79895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5053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Raw blocks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AC563A-D604-4F03-AE66-8C47B6ADC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84822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BA8B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9BA8B8"/>
                </a:solidFill>
                <a:latin typeface="Arial"/>
                <a:ea typeface="Arial"/>
                <a:cs typeface="Arial"/>
              </a:rPr>
              <a:t>Complete OCR or native text trace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551AE9-2FBE-424F-A903-774E3E01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4572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6D6A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6D6A0"/>
                </a:solidFill>
                <a:latin typeface="Arial"/>
                <a:ea typeface="Arial"/>
                <a:cs typeface="Arial"/>
              </a:rPr>
              <a:t>Unreadable values remain null. Reliability gaps become NOT_APPLICABLE checks.</a:t>
            </a:r>
          </a:p>
        </p:txBody>
      </p:sp>
    </p:spTree>
    <p:extLst>
      <p:ext uri="{BB962C8B-B14F-4D97-AF65-F5344CB8AC3E}">
        <p14:creationId xmlns:p14="http://schemas.microsoft.com/office/powerpoint/2010/main" val="12343547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F1104D-EAC7-498D-87A9-B4D4F021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Deterministic financial 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CE6016-B33A-48B2-962B-AE9AD66E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E6C64E-876F-4EC6-8C3E-6EA70B34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FA40A6-CE95-4FC3-8635-F2F3D2524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BA8B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9BA8B8"/>
                </a:solidFill>
                <a:latin typeface="Arial"/>
                <a:ea typeface="Arial"/>
                <a:cs typeface="Arial"/>
              </a:rPr>
              <a:t>Every decision exposes its formula, operands, calculated value, reported value and variance.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98DF88-6A85-4974-A3A0-F6965975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Invoice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6F4486-105B-442A-B459-9EB55FC7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526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BA8B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9BA8B8"/>
                </a:solidFill>
                <a:latin typeface="Arial"/>
                <a:ea typeface="Arial"/>
                <a:cs typeface="Arial"/>
              </a:rPr>
              <a:t>subtotal + tax + shipping − discount = total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31CB23-1191-4973-99E3-B8AC9DC1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CDE7FA-5383-42EB-B6C7-9EAC07313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Balance sheet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B55CA7-1ADC-412E-83E5-D9286CD3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337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BA8B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9BA8B8"/>
                </a:solidFill>
                <a:latin typeface="Arial"/>
                <a:ea typeface="Arial"/>
                <a:cs typeface="Arial"/>
              </a:rPr>
              <a:t>capital and liabilities = total assets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CBB719-CEE4-47E3-AD7D-60E86A2A9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A8F898-E67D-43A5-99CB-8F66D8A3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Profit &amp; loss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B1C195-220C-45F8-86C5-EED93ADDA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147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BA8B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9BA8B8"/>
                </a:solidFill>
                <a:latin typeface="Arial"/>
                <a:ea typeface="Arial"/>
                <a:cs typeface="Arial"/>
              </a:rPr>
              <a:t>total income − total expenditure = profit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C4F3FB-C11E-44A1-A48C-3C217308A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EA1FE5-8DE0-4D6A-92E4-D2E7BE9B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Cash flow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3A66E0-C8D1-49D4-9257-98E4226E3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49580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BA8B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9BA8B8"/>
                </a:solidFill>
                <a:latin typeface="Arial"/>
                <a:ea typeface="Arial"/>
                <a:cs typeface="Arial"/>
              </a:rPr>
              <a:t>opening cash + net change + acquired cash = closing cash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07CF80-673B-4A2E-876F-BA88716B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D7C4ED-B604-4B96-9A93-A2A8EA04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6D6A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6D6A0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F62495-2AB2-4AB9-8477-7735A91A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007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BA8B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BA8B8"/>
                </a:solidFill>
                <a:latin typeface="Arial"/>
                <a:ea typeface="Arial"/>
                <a:cs typeface="Arial"/>
              </a:rPr>
              <a:t>within tolerance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35AAD8-9244-4F36-BC7D-C79FF646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6007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7D7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7D77"/>
                </a:solidFill>
                <a:latin typeface="Arial"/>
                <a:ea typeface="Arial"/>
                <a:cs typeface="Arial"/>
              </a:rPr>
              <a:t>FAIL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7C5E2D-AFC6-4F8E-AA05-A801CFEC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6007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BA8B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BA8B8"/>
                </a:solidFill>
                <a:latin typeface="Arial"/>
                <a:ea typeface="Arial"/>
                <a:cs typeface="Arial"/>
              </a:rPr>
              <a:t>supported mismatch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DC499F-0939-4DF0-99FB-B7D81F1F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6007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D7A8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D7A8A"/>
                </a:solidFill>
                <a:latin typeface="Arial"/>
                <a:ea typeface="Arial"/>
                <a:cs typeface="Arial"/>
              </a:rPr>
              <a:t>NOT APPLICABLE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AA3F4A-51BF-4A68-86CE-07941685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6007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9BA8B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9BA8B8"/>
                </a:solidFill>
                <a:latin typeface="Arial"/>
                <a:ea typeface="Arial"/>
                <a:cs typeface="Arial"/>
              </a:rPr>
              <a:t>insufficient evidence</a:t>
            </a:r>
          </a:p>
        </p:txBody>
      </p:sp>
    </p:spTree>
    <p:extLst>
      <p:ext uri="{BB962C8B-B14F-4D97-AF65-F5344CB8AC3E}">
        <p14:creationId xmlns:p14="http://schemas.microsoft.com/office/powerpoint/2010/main" val="13684523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A779DF-15C1-4ED1-9BBD-479EA841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API, persistence and dashboard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60750E-80E0-4206-B8DD-3011D852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41090A-0AD7-49FE-9324-A12FB39D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294B32-AE17-4383-A703-1B8C9AE5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REST API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038679-A10B-4330-B295-E31415A7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POST  /documents/process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814FAD-44D0-4098-8C9D-136C59BE9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B"/>
                </a:solidFill>
                <a:latin typeface="Arial"/>
                <a:ea typeface="Arial"/>
                <a:cs typeface="Arial"/>
              </a:rPr>
              <a:t>GET   /documents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C858B4-CC83-4A4B-ACFC-9D92C7B4A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B"/>
                </a:solidFill>
                <a:latin typeface="Arial"/>
                <a:ea typeface="Arial"/>
                <a:cs typeface="Arial"/>
              </a:rPr>
              <a:t>GET   /documents/{id}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14F602-642F-4D46-AE07-60DE8450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5F7FB"/>
                </a:solidFill>
                <a:latin typeface="Arial"/>
                <a:ea typeface="Arial"/>
                <a:cs typeface="Arial"/>
              </a:rPr>
              <a:t>GET   /documents/latest/{name}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CCCAA6-1C38-49BC-83BA-DC5FB4A89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BA8B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9BA8B8"/>
                </a:solidFill>
                <a:latin typeface="Arial"/>
                <a:ea typeface="Arial"/>
                <a:cs typeface="Arial"/>
              </a:rPr>
              <a:t>Results persist as schema-valid JSON with indexed name, type, status and timestamp metadata.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C57CF8-D6E7-41E5-AA5C-87EF4903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230B9C-A46E-4FA5-8452-093DAB7A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4097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DASHBOARD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892EE1-B091-44A0-B25A-F7D3B986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621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54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Upload and classify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690C69-48EE-4B7B-80E8-E20A2EAE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0030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BA8B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9BA8B8"/>
                </a:solidFill>
                <a:latin typeface="Arial"/>
                <a:ea typeface="Arial"/>
                <a:cs typeface="Arial"/>
              </a:rPr>
              <a:t>Choose a document type, drag in a file and receive a saved result.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1E7296-03BC-4F14-A451-B564C5BB8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3337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54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Inspect the result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D57D62-2403-41F0-8C97-C09A02CD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77190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BA8B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9BA8B8"/>
                </a:solidFill>
                <a:latin typeface="Arial"/>
                <a:ea typeface="Arial"/>
                <a:cs typeface="Arial"/>
              </a:rPr>
              <a:t>Switch between overview, extracted evidence, validation formulas and raw JSON.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8B4B11-F446-480C-9BAC-D9BB87A24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7815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54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Browse history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55FCBA-B6A9-45DA-9942-CCE2D08A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2197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03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BA8B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9BA8B8"/>
                </a:solidFill>
                <a:latin typeface="Arial"/>
                <a:ea typeface="Arial"/>
                <a:cs typeface="Arial"/>
              </a:rPr>
              <a:t>Reopen any prior document from PostgreSQL-backed history.</a:t>
            </a:r>
          </a:p>
        </p:txBody>
      </p:sp>
    </p:spTree>
    <p:extLst>
      <p:ext uri="{BB962C8B-B14F-4D97-AF65-F5344CB8AC3E}">
        <p14:creationId xmlns:p14="http://schemas.microsoft.com/office/powerpoint/2010/main" val="16611980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406B4F-BB00-4431-ACAB-DE3AB2D9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Evaluation on the supplied dataset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1E4F15-E8B2-46BA-9787-C019DCBC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BF8610-8262-4BE6-9EDA-FADA76F6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D7806F-AAE5-4D1D-BE5E-2553C3A0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9BA8B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9BA8B8"/>
                </a:solidFill>
                <a:latin typeface="Arial"/>
                <a:ea typeface="Arial"/>
                <a:cs typeface="Arial"/>
              </a:rPr>
              <a:t>Every supplied document completed processing with no validation failures.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552450" y="2114550"/>
          <a:ext xmlns:a="http://schemas.openxmlformats.org/drawingml/2006/main" cx="67627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93d805422b444a5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43F45A-DA8B-470E-8EC8-181575F5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95500"/>
            <a:ext cx="304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50/50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DA96E5-49F3-4AC7-AC09-AD9D177C7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146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9BA8B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9BA8B8"/>
                </a:solidFill>
                <a:latin typeface="Arial"/>
                <a:ea typeface="Arial"/>
                <a:cs typeface="Arial"/>
              </a:rPr>
              <a:t>documents processed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F09EF3-7195-4103-91AF-9082E1385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14750"/>
            <a:ext cx="104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56D6A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56D6A0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AE06B1-2A28-41F4-A6A7-D864D63AB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576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6D6A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6D6A0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B2D59B-7263-465F-8BBD-8D716589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76750"/>
            <a:ext cx="104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032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6D7A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6D7A8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81C4F1-9D84-4D34-834D-BD86A8C72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6291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D7A8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7A8A"/>
                </a:solidFill>
                <a:latin typeface="Arial"/>
                <a:ea typeface="Arial"/>
                <a:cs typeface="Arial"/>
              </a:rPr>
              <a:t>NOT APPLICABLE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879664-F923-41D7-8D3A-EEA09CC4F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31 automated tests · Linux CI and Docker build passed</a:t>
            </a:r>
          </a:p>
        </p:txBody>
      </p:sp>
    </p:spTree>
    <p:extLst>
      <p:ext uri="{BB962C8B-B14F-4D97-AF65-F5344CB8AC3E}">
        <p14:creationId xmlns:p14="http://schemas.microsoft.com/office/powerpoint/2010/main" val="2970847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12C340-1DC4-4987-891B-D61A20D5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Deployment and submission package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2D1DD1-5AE8-4BE0-8783-AB62E998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ECDA19-058F-4571-88E0-3D89BF86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8534D4-7306-46F2-B6F7-6698C416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BA8B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9BA8B8"/>
                </a:solidFill>
                <a:latin typeface="Arial"/>
                <a:ea typeface="Arial"/>
                <a:cs typeface="Arial"/>
              </a:rPr>
              <a:t>The frontend and backend deploy independently while sharing one public repository.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78E4C2-65F6-411E-8760-8BB697DF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302895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0D1A29"/>
          </a:solidFill>
          <a:ln xmlns:a="http://schemas.openxmlformats.org/drawingml/2006/main" w="9525">
            <a:solidFill>
              <a:srgbClr val="29415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D9B20F-10EF-4C58-9BA9-3BF3E779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9080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VERCEL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F571E6-8323-4382-B7AE-F47C07820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2609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BA8B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9BA8B8"/>
                </a:solidFill>
                <a:latin typeface="Arial"/>
                <a:ea typeface="Arial"/>
                <a:cs typeface="Arial"/>
              </a:rPr>
              <a:t>Static dashboard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DFCE3F-E0DF-478B-A42A-1A829B63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81300"/>
            <a:ext cx="400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596"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6D7A8A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6D7A8A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BBA6DD-109A-45C2-86D8-F8478039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24100"/>
            <a:ext cx="302895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0D1A29"/>
          </a:solidFill>
          <a:ln xmlns:a="http://schemas.openxmlformats.org/drawingml/2006/main" w="9525">
            <a:solidFill>
              <a:srgbClr val="F2B84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75E1D0-8E00-4463-BCD5-B73CAEBC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9080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RENDER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D2AB74-5922-4C0B-8162-DDC46C51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05150"/>
            <a:ext cx="2609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BA8B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9BA8B8"/>
                </a:solidFill>
                <a:latin typeface="Arial"/>
                <a:ea typeface="Arial"/>
                <a:cs typeface="Arial"/>
              </a:rPr>
              <a:t>FastAPI + OCR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E08131-FE70-4E8C-A3E4-5DDA537D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781300"/>
            <a:ext cx="400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596"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6D7A8A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6D7A8A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5CD719-E298-4722-B037-563A1554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24100"/>
            <a:ext cx="302895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0D1A29"/>
          </a:solidFill>
          <a:ln xmlns:a="http://schemas.openxmlformats.org/drawingml/2006/main" w="9525">
            <a:solidFill>
              <a:srgbClr val="29415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11E2CB-8E25-4099-B88C-F3B07358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9080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6D6A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6D6A0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12349E-8BF1-4EA6-A2D2-468E0A01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05150"/>
            <a:ext cx="2609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BA8B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9BA8B8"/>
                </a:solidFill>
                <a:latin typeface="Arial"/>
                <a:ea typeface="Arial"/>
                <a:cs typeface="Arial"/>
              </a:rPr>
              <a:t>Result history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7E2735-4424-47DA-A65D-893B3CBF4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PUBLIC REPOSITORY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778ABC-0068-4D4A-B160-718FCF08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5F7FB"/>
                </a:solidFill>
                <a:latin typeface="Arial"/>
                <a:ea typeface="Arial"/>
                <a:cs typeface="Arial"/>
              </a:rPr>
              <a:t>github.com/ryuk7728/document-intelligence-platform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9CEB31-EC05-4BF7-A03C-FE8879C8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BA8B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9BA8B8"/>
                </a:solidFill>
                <a:latin typeface="Arial"/>
                <a:ea typeface="Arial"/>
                <a:cs typeface="Arial"/>
              </a:rPr>
              <a:t>Included: source code, tests, API docs, deployment configuration and this development approach.</a:t>
            </a:r>
          </a:p>
        </p:txBody>
      </p:sp>
    </p:spTree>
    <p:extLst>
      <p:ext uri="{BB962C8B-B14F-4D97-AF65-F5344CB8AC3E}">
        <p14:creationId xmlns:p14="http://schemas.microsoft.com/office/powerpoint/2010/main" val="2508103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2026-09-11T19:20:13.4510000Z</dcterms:created>
  <dcterms:modified xsi:type="dcterms:W3CDTF">2026-09-11T19:20:13.4510000Z</dcterms:modified>
</coreProperties>
</file>